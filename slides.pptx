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1" r:id="rId12"/>
    <p:sldId id="265" r:id="rId13"/>
    <p:sldId id="267" r:id="rId14"/>
    <p:sldId id="266" r:id="rId15"/>
    <p:sldId id="272" r:id="rId16"/>
    <p:sldId id="273" r:id="rId17"/>
    <p:sldId id="269" r:id="rId18"/>
    <p:sldId id="270" r:id="rId19"/>
    <p:sldId id="2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  <a:endParaRPr lang="en-US" sz="8000" dirty="0">
              <a:solidFill>
                <a:schemeClr val="accent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  <a:endParaRPr lang="en-US" sz="8000" dirty="0">
              <a:solidFill>
                <a:schemeClr val="accen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  <a:endParaRPr lang="en-US" sz="8000" dirty="0">
              <a:solidFill>
                <a:schemeClr val="accent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  <a:endParaRPr lang="en-US" sz="8000" dirty="0">
              <a:solidFill>
                <a:schemeClr val="accen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 panose="020B0604020202020204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 panose="020B0604020202020204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 panose="020B0604020202020204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 panose="020B0604020202020204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 panose="020B0604020202020204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 panose="020B0604020202020204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 panose="020B0604020202020204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 panose="020B0604020202020204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 panose="020B0604020202020204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-1" y="0"/>
            <a:ext cx="7503583" cy="3725333"/>
          </a:xfrm>
        </p:spPr>
        <p:txBody>
          <a:bodyPr/>
          <a:lstStyle/>
          <a:p>
            <a:r>
              <a:rPr lang="en-GB"/>
              <a:t>Project Data Analysis </a:t>
            </a:r>
            <a:endParaRPr lang="en-US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 </a:t>
            </a:r>
            <a:endParaRPr lang="en-US" sz="24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2" b="2405"/>
          <a:stretch>
            <a:fillRect/>
          </a:stretch>
        </p:blipFill>
        <p:spPr>
          <a:xfrm>
            <a:off x="6314228" y="0"/>
            <a:ext cx="5877773" cy="29718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829435" y="407606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Hossam </a:t>
            </a:r>
            <a:br>
              <a:rPr lang="en-US"/>
            </a:br>
            <a:r>
              <a:rPr lang="en-US"/>
              <a:t>Magda</a:t>
            </a:r>
            <a:br>
              <a:rPr lang="en-US"/>
            </a:br>
            <a:r>
              <a:rPr lang="en-US"/>
              <a:t>Naeila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1577638" cy="6302375"/>
          </a:xfrm>
        </p:spPr>
        <p:txBody>
          <a:bodyPr>
            <a:normAutofit/>
          </a:bodyPr>
          <a:lstStyle/>
          <a:p>
            <a:r>
              <a:rPr lang="ar-SA" sz="2400"/>
              <a:t>                 </a:t>
            </a:r>
            <a:endParaRPr lang="en-US" sz="240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828535" y="746124"/>
            <a:ext cx="5918466" cy="2926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r-SA"/>
              <a:t>      </a:t>
            </a:r>
            <a:r>
              <a:rPr lang="en-GB" sz="2800"/>
              <a:t>CLEAN Data with paython </a:t>
            </a:r>
            <a:endParaRPr lang="en-GB" sz="2800"/>
          </a:p>
          <a:p>
            <a:pPr marL="0" indent="0">
              <a:buNone/>
            </a:pPr>
            <a:r>
              <a:rPr lang="en-GB" sz="2800"/>
              <a:t>     CLEAN Data with EXCEL </a:t>
            </a:r>
            <a:endParaRPr lang="en-GB" sz="2800"/>
          </a:p>
          <a:p>
            <a:pPr marL="0" indent="0">
              <a:buNone/>
            </a:pPr>
            <a:r>
              <a:rPr lang="en-GB" sz="2800"/>
              <a:t>      dash Board for Data</a:t>
            </a:r>
            <a:endParaRPr lang="en-GB" sz="2800"/>
          </a:p>
          <a:p>
            <a:pPr marL="0" indent="0">
              <a:buNone/>
            </a:pPr>
            <a:r>
              <a:rPr lang="en-GB" sz="2800"/>
              <a:t>     the final project </a:t>
            </a:r>
            <a:endParaRPr lang="en-GB" sz="2800"/>
          </a:p>
          <a:p>
            <a:pPr marL="0" indent="0">
              <a:buNone/>
            </a:pPr>
            <a:r>
              <a:rPr lang="ar-SA">
                <a:latin typeface="+mj-lt"/>
              </a:rPr>
              <a:t> </a:t>
            </a:r>
            <a:endParaRPr lang="en-US">
              <a:latin typeface="+mj-lt"/>
            </a:endParaRPr>
          </a:p>
        </p:txBody>
      </p:sp>
      <p:sp>
        <p:nvSpPr>
          <p:cNvPr id="7" name="Arrow: Notched Right 6"/>
          <p:cNvSpPr/>
          <p:nvPr/>
        </p:nvSpPr>
        <p:spPr>
          <a:xfrm flipV="1">
            <a:off x="1307042" y="746125"/>
            <a:ext cx="333375" cy="561908"/>
          </a:xfrm>
          <a:prstGeom prst="notchedRightArrow">
            <a:avLst>
              <a:gd name="adj1" fmla="val 57170"/>
              <a:gd name="adj2" fmla="val 3607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Notched Right 12"/>
          <p:cNvSpPr/>
          <p:nvPr/>
        </p:nvSpPr>
        <p:spPr>
          <a:xfrm>
            <a:off x="1297892" y="1327849"/>
            <a:ext cx="468841" cy="542091"/>
          </a:xfrm>
          <a:prstGeom prst="notchedRightArrow">
            <a:avLst>
              <a:gd name="adj1" fmla="val 52718"/>
              <a:gd name="adj2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Notched Right 13"/>
          <p:cNvSpPr/>
          <p:nvPr/>
        </p:nvSpPr>
        <p:spPr>
          <a:xfrm>
            <a:off x="1236090" y="2014666"/>
            <a:ext cx="530643" cy="417182"/>
          </a:xfrm>
          <a:prstGeom prst="notchedRightArrow">
            <a:avLst>
              <a:gd name="adj1" fmla="val 100000"/>
              <a:gd name="adj2" fmla="val 849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Notched Right 15"/>
          <p:cNvSpPr/>
          <p:nvPr/>
        </p:nvSpPr>
        <p:spPr>
          <a:xfrm>
            <a:off x="1297892" y="2459736"/>
            <a:ext cx="468841" cy="637032"/>
          </a:xfrm>
          <a:prstGeom prst="notchedRightArrow">
            <a:avLst>
              <a:gd name="adj1" fmla="val 50000"/>
              <a:gd name="adj2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Notched Right 19"/>
          <p:cNvSpPr/>
          <p:nvPr/>
        </p:nvSpPr>
        <p:spPr>
          <a:xfrm flipV="1">
            <a:off x="1236091" y="3048159"/>
            <a:ext cx="632624" cy="542090"/>
          </a:xfrm>
          <a:prstGeom prst="notchedRightArrow">
            <a:avLst>
              <a:gd name="adj1" fmla="val 73005"/>
              <a:gd name="adj2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916" y="0"/>
            <a:ext cx="4751165" cy="2222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Step 1: Initial data exploration </a:t>
            </a:r>
            <a:endParaRPr lang="en-US"/>
          </a:p>
        </p:txBody>
      </p:sp>
      <p:pic>
        <p:nvPicPr>
          <p:cNvPr id="10" name="Picture 10"/>
          <p:cNvPicPr>
            <a:picLocks noGrp="1" noChangeAspect="1"/>
          </p:cNvPicPr>
          <p:nvPr>
            <p:ph sz="quarter" idx="13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1" y="2010833"/>
            <a:ext cx="6551082" cy="3780367"/>
          </a:xfrm>
        </p:spPr>
      </p:pic>
      <p:pic>
        <p:nvPicPr>
          <p:cNvPr id="13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0333" y="2010833"/>
            <a:ext cx="5291667" cy="36406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Step 2 Descriptive statistics analysis </a:t>
            </a:r>
            <a:endParaRPr lang="en-US"/>
          </a:p>
        </p:txBody>
      </p:sp>
      <p:pic>
        <p:nvPicPr>
          <p:cNvPr id="8" name="Picture 8"/>
          <p:cNvPicPr>
            <a:picLocks noGrp="1" noChangeAspect="1"/>
          </p:cNvPicPr>
          <p:nvPr>
            <p:ph sz="quarter" idx="13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17" y="1925110"/>
            <a:ext cx="9905998" cy="4530724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Step 3 Data cleaning Steps </a:t>
            </a:r>
            <a:endParaRPr lang="en-US"/>
          </a:p>
        </p:txBody>
      </p:sp>
      <p:pic>
        <p:nvPicPr>
          <p:cNvPr id="10" name="Picture 10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3" y="2666999"/>
            <a:ext cx="9071504" cy="4106333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Step 4 data visualisation and outlier</a:t>
            </a:r>
            <a:endParaRPr lang="en-US"/>
          </a:p>
        </p:txBody>
      </p:sp>
      <p:pic>
        <p:nvPicPr>
          <p:cNvPr id="7" name="Picture 7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83" y="2210859"/>
            <a:ext cx="5736168" cy="4265084"/>
          </a:xfr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51" y="2210859"/>
            <a:ext cx="5206999" cy="42650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Step 5 overall metric calculation </a:t>
            </a:r>
            <a:endParaRPr lang="en-US"/>
          </a:p>
        </p:txBody>
      </p:sp>
      <p:pic>
        <p:nvPicPr>
          <p:cNvPr id="4" name="Picture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17" y="2211917"/>
            <a:ext cx="3205361" cy="4455583"/>
          </a:xfrm>
        </p:spPr>
      </p:pic>
      <p:pic>
        <p:nvPicPr>
          <p:cNvPr id="6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778" y="2211917"/>
            <a:ext cx="4605139" cy="4455583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3916" y="2211917"/>
            <a:ext cx="3704167" cy="44555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Overall metric calculation </a:t>
            </a:r>
            <a:endParaRPr lang="en-US"/>
          </a:p>
        </p:txBody>
      </p:sp>
      <p:pic>
        <p:nvPicPr>
          <p:cNvPr id="7" name="Picture 7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84" y="3012017"/>
            <a:ext cx="7631633" cy="3124200"/>
          </a:xfr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466" y="2900892"/>
            <a:ext cx="4316950" cy="32353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6163" y="761999"/>
            <a:ext cx="9905998" cy="1905000"/>
          </a:xfrm>
        </p:spPr>
        <p:txBody>
          <a:bodyPr>
            <a:normAutofit fontScale="90000"/>
          </a:bodyPr>
          <a:lstStyle/>
          <a:p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CLEAN data with EXCEL </a:t>
            </a:r>
            <a:br>
              <a:rPr lang="en-GB"/>
            </a:br>
            <a:br>
              <a:rPr lang="en-GB"/>
            </a:br>
            <a:r>
              <a:rPr lang="en-GB" sz="2400"/>
              <a:t>step 1 data cleaning and preparation </a:t>
            </a:r>
            <a:br>
              <a:rPr lang="en-GB" sz="2400"/>
            </a:br>
            <a:r>
              <a:rPr lang="en-GB" sz="2400"/>
              <a:t>step 2 data inspection </a:t>
            </a:r>
            <a:br>
              <a:rPr lang="en-GB" sz="2400"/>
            </a:br>
            <a:r>
              <a:rPr lang="en-GB" sz="2400"/>
              <a:t>step 3 handling missing values</a:t>
            </a:r>
            <a:br>
              <a:rPr lang="en-GB" sz="2400"/>
            </a:br>
            <a:br>
              <a:rPr lang="en-GB" sz="2400"/>
            </a:br>
            <a:endParaRPr lang="en-US"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6162" y="2417235"/>
            <a:ext cx="9292165" cy="35475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/>
              <a:t>Step 4 Removing duplication </a:t>
            </a:r>
            <a:endParaRPr 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804334"/>
            <a:ext cx="6170082" cy="6053666"/>
          </a:xfr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834" y="804333"/>
            <a:ext cx="5986987" cy="61171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713316"/>
          </a:xfrm>
        </p:spPr>
        <p:txBody>
          <a:bodyPr/>
          <a:lstStyle/>
          <a:p>
            <a:r>
              <a:rPr lang="en-GB"/>
              <a:t>Data Before and after CLEAN </a:t>
            </a:r>
            <a:endParaRPr lang="en-US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918" y="1322918"/>
            <a:ext cx="6096000" cy="5437862"/>
          </a:xfrm>
          <a:prstGeom prst="rect">
            <a:avLst/>
          </a:prstGeom>
        </p:spPr>
      </p:pic>
      <p:pic>
        <p:nvPicPr>
          <p:cNvPr id="8" name="Picture 8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01"/>
          <a:stretch>
            <a:fillRect/>
          </a:stretch>
        </p:blipFill>
        <p:spPr>
          <a:xfrm>
            <a:off x="113560" y="1322916"/>
            <a:ext cx="5781358" cy="5437862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51435" y="59055"/>
            <a:ext cx="12295505" cy="6695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Dash Board for Data </a:t>
            </a:r>
            <a:endParaRPr lang="en-US"/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12065" y="-61595"/>
            <a:ext cx="12139930" cy="68560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83185" y="74930"/>
            <a:ext cx="12274550" cy="67163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73025" y="0"/>
            <a:ext cx="12264390" cy="69481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29" y="-1460500"/>
            <a:ext cx="9759421" cy="7175500"/>
          </a:xfrm>
        </p:spPr>
        <p:txBody>
          <a:bodyPr>
            <a:normAutofit/>
          </a:bodyPr>
          <a:lstStyle/>
          <a:p>
            <a:r>
              <a:rPr lang="en-US" sz="1600"/>
              <a:t>1. Hotel Type   · Share: City Hotel accounts for ~66% of bookings, Resort Hotel ~34%.   · Insight: City Hotels are more popular for short-term stays</a:t>
            </a:r>
            <a:br>
              <a:rPr lang="en-GB" sz="1600"/>
            </a:br>
            <a:r>
              <a:rPr lang="en-US" sz="1600"/>
              <a:t>.2. Arrival Month   · Peak season: August and July.   · Low season: Winter months.   · </a:t>
            </a:r>
            <a:br>
              <a:rPr lang="en-GB" sz="1600"/>
            </a:br>
            <a:r>
              <a:rPr lang="en-US" sz="1600"/>
              <a:t>Insight: Clear seasonality → Off-season promotions can boost occupancy.3. Meal Plan   · Share: Bed &amp; Breakfast (BB) represents ~77% of all meal plans.   · Insight: Guests prefer basic meal options → Opportunity to upsell Half Board or Full Board packages.Would you like me to help with a deeper analysis, visualize this data (e.g., in a chart), or assist with anything else related to this</a:t>
            </a:r>
            <a:endParaRPr lang="en-US" sz="1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330" y="275166"/>
            <a:ext cx="9905998" cy="1208617"/>
          </a:xfrm>
        </p:spPr>
        <p:txBody>
          <a:bodyPr>
            <a:normAutofit/>
          </a:bodyPr>
          <a:lstStyle/>
          <a:p>
            <a:r>
              <a:rPr lang="en-GB" sz="3200"/>
              <a:t>Insights from categorical </a:t>
            </a:r>
            <a:endParaRPr lang="en-US" sz="3200"/>
          </a:p>
        </p:txBody>
      </p:sp>
      <p:sp>
        <p:nvSpPr>
          <p:cNvPr id="5" name="TextBox 4"/>
          <p:cNvSpPr txBox="1"/>
          <p:nvPr/>
        </p:nvSpPr>
        <p:spPr>
          <a:xfrm>
            <a:off x="0" y="3075575"/>
            <a:ext cx="113876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4. Market SegmentOnline TA: ~47%, Direct: ~20%.Insight:Heavy reliance on Online Travel Agents → Higher cancellation risk. Encourage direct bookings for better control and higher profit.</a:t>
            </a:r>
            <a:endParaRPr lang="en-GB"/>
          </a:p>
          <a:p>
            <a:r>
              <a:rPr lang="en-US"/>
              <a:t>5. Distribution ChannelTA/TO is the dominant channel (~82%). Insight: Traditional travel agents dominate → Strengthening direct channels can increase profitability</a:t>
            </a:r>
            <a:endParaRPr lang="en-GB"/>
          </a:p>
          <a:p>
            <a:r>
              <a:rPr lang="en-US"/>
              <a:t>.6. Deposit TypeNo Deposit: ~87% of bookings.Insight:No-deposit bookings have higher cancellation rates → Promote advance payments or partial deposits.</a:t>
            </a:r>
            <a:endParaRPr lang="en-GB"/>
          </a:p>
          <a:p>
            <a:r>
              <a:rPr lang="en-US"/>
              <a:t>7. Customer TypeTransient guests: ~75%, Repeated guests: ~3%.Insight:Guest loyalty is very low. Loyalty programs are needed.2) Insights from Numerical Features8. Cancellation RateOverall cancellation rate: ~37%.Insight:High cancellation rate → Apply stricter policies or incentives for confirmed bookings.9. Lead TimeMedian: 69 days, Maximum: 737 days.Longer lead times are associated with higher cancellations.Insight: Offer flexible policies for long-lead bookings to reduce cancellations.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329" y="1066800"/>
            <a:ext cx="10817753" cy="3462867"/>
          </a:xfrm>
        </p:spPr>
        <p:txBody>
          <a:bodyPr>
            <a:normAutofit/>
          </a:bodyPr>
          <a:lstStyle/>
          <a:p>
            <a:r>
              <a:rPr lang="en-US" sz="2000"/>
              <a:t>13. Previous Cancellations &amp; Booking ChangesMost guests have no previous cancellations.Average booking changes:~0.22. Insight: Guests are generally stable. Only specific groups require cancellation-risk monitoring.14. Special RequestsMedian: 0, Max: 5. Insight: Most guests don't request extra services → Upselling amenities can increase revenue.15. Waiting List DaysMedian: 0, Max: 391 days.Insight:Waiting lists are rarely used → Focus more on optimizing room allocation.16. Repeated Guests</a:t>
            </a:r>
            <a:endParaRPr lang="en-US"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751415" y="275167"/>
            <a:ext cx="8710083" cy="1471083"/>
          </a:xfrm>
        </p:spPr>
        <p:txBody>
          <a:bodyPr>
            <a:normAutofit/>
          </a:bodyPr>
          <a:lstStyle/>
          <a:p>
            <a:r>
              <a:rPr lang="en-GB" sz="3200"/>
              <a:t>Insights from categorical </a:t>
            </a:r>
            <a:endParaRPr lang="en-US" sz="3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                               </a:t>
            </a:r>
            <a:endParaRPr lang="en-US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4800">
                <a:latin typeface="Bradley Hand ITC" panose="03070402050302030203" pitchFamily="2" charset="0"/>
                <a:ea typeface="Bradley Hand ITC" panose="03070402050302030203" pitchFamily="2" charset="0"/>
              </a:rPr>
              <a:t>                    Thank you </a:t>
            </a:r>
            <a:endParaRPr lang="en-US" sz="4800">
              <a:latin typeface="Bradley Hand ITC" panose="03070402050302030203" pitchFamily="2" charset="0"/>
              <a:ea typeface="Bradley Hand ITC" panose="03070402050302030203" pitchFamily="2" charset="0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8" y="-69849"/>
            <a:ext cx="12192000" cy="3901016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2785</Words>
  <Application>WPS Presentation</Application>
  <PresentationFormat>Widescreen</PresentationFormat>
  <Paragraphs>52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SimSun</vt:lpstr>
      <vt:lpstr>Wingdings</vt:lpstr>
      <vt:lpstr>Arial</vt:lpstr>
      <vt:lpstr>Bradley Hand ITC</vt:lpstr>
      <vt:lpstr>Century Gothic</vt:lpstr>
      <vt:lpstr>Microsoft YaHei</vt:lpstr>
      <vt:lpstr>Arial Unicode MS</vt:lpstr>
      <vt:lpstr>Calibri</vt:lpstr>
      <vt:lpstr>Tahoma</vt:lpstr>
      <vt:lpstr>Mesh</vt:lpstr>
      <vt:lpstr>Project Data Analysis </vt:lpstr>
      <vt:lpstr>                 </vt:lpstr>
      <vt:lpstr>Step 1: Initial data exploration </vt:lpstr>
      <vt:lpstr>Step 2 Descriptive statistics analysis </vt:lpstr>
      <vt:lpstr>Step 3 Data cleaning Steps </vt:lpstr>
      <vt:lpstr>Step 4 data visualisation and outlier</vt:lpstr>
      <vt:lpstr>Step 5 overall metric calculation </vt:lpstr>
      <vt:lpstr>Overall metric calculation </vt:lpstr>
      <vt:lpstr>       CLEAN data with EXCEL   step 1 data cleaning and preparation  step 2 data inspection  step 3 handling missing values  </vt:lpstr>
      <vt:lpstr>PowerPoint 演示文稿</vt:lpstr>
      <vt:lpstr>Data Before and after CLEAN </vt:lpstr>
      <vt:lpstr>PowerPoint 演示文稿</vt:lpstr>
      <vt:lpstr>Dash Board for Data </vt:lpstr>
      <vt:lpstr>PowerPoint 演示文稿</vt:lpstr>
      <vt:lpstr>PowerPoint 演示文稿</vt:lpstr>
      <vt:lpstr>1. Hotel Type   · Share: City Hotel accounts for ~66% of bookings, Resort Hotel ~34%.   · Insight: City Hotels are more popular for short-term stays .2. Arrival Month   · Peak season: August and July.   · Low season: Winter months.   ·  Insight: Clear seasonality → Off-season promotions can boost occupancy.3. Meal Plan   · Share: Bed &amp; Breakfast (BB) represents ~77% of all meal plans.   · Insight: Guests prefer basic meal options → Opportunity to upsell Half Board or Full Board packages.Would you like me to help with a deeper analysis, visualize this data (e.g., in a chart), or assist with anything else related to this</vt:lpstr>
      <vt:lpstr>13. Previous Cancellations &amp; Booking ChangesMost guests have no previous cancellations.Average booking changes:~0.22. Insight: Guests are generally stable. Only specific groups require cancellation-risk monitoring.14. Special RequestsMedian: 0, Max: 5. Insight: Most guests don't request extra services → Upselling amenities can increase revenue.15. Waiting List DaysMedian: 0, Max: 391 days.Insight:Waiting lists are rarely used → Focus more on optimizing room allocation.16. Repeated Guests</vt:lpstr>
      <vt:lpstr>                             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Unknown User</dc:creator>
  <cp:lastModifiedBy>WPS_1744123660</cp:lastModifiedBy>
  <cp:revision>6</cp:revision>
  <dcterms:created xsi:type="dcterms:W3CDTF">2025-12-10T23:25:00Z</dcterms:created>
  <dcterms:modified xsi:type="dcterms:W3CDTF">2025-12-12T20:40:39Z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7A0E3D7436D3456BA4FF6DD0462B0A4A_12</vt:lpwstr>
  </property>
  <property fmtid="{D5CDD505-2E9C-101B-9397-08002B2CF9AE}" pid="3" name="KSOProductBuildVer">
    <vt:lpwstr>1033-12.2.0.23155</vt:lpwstr>
  </property>
</Properties>
</file>